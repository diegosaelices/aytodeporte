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Montserrat" panose="020F0502020204030204" pitchFamily="2" charset="0"/>
      <p:regular r:id="rId14"/>
    </p:embeddedFont>
    <p:embeddedFont>
      <p:font typeface="Montserrat Bold" panose="020B0604020202020204" charset="0"/>
      <p:regular r:id="rId15"/>
    </p:embeddedFont>
    <p:embeddedFont>
      <p:font typeface="Montserrat Extra-Light" panose="020B0604020202020204" charset="0"/>
      <p:regular r:id="rId16"/>
    </p:embeddedFont>
    <p:embeddedFont>
      <p:font typeface="Montserrat Medium" panose="020F0502020204030204" pitchFamily="2" charset="0"/>
      <p:regular r:id="rId17"/>
    </p:embeddedFont>
    <p:embeddedFont>
      <p:font typeface="Montserrat Ultra-Bold" panose="020B0604020202020204" charset="0"/>
      <p:regular r:id="rId18"/>
    </p:embeddedFont>
    <p:embeddedFont>
      <p:font typeface="TAN Headline"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36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p:nvPr/>
        </p:nvGrpSpPr>
        <p:grpSpPr>
          <a:xfrm>
            <a:off x="9679165" y="8737260"/>
            <a:ext cx="11933240" cy="521040"/>
            <a:chOff x="0" y="0"/>
            <a:chExt cx="3572814" cy="155999"/>
          </a:xfrm>
        </p:grpSpPr>
        <p:sp>
          <p:nvSpPr>
            <p:cNvPr id="3" name="Freeform 3"/>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4" name="TextBox 4"/>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a:grpSpLocks noChangeAspect="1"/>
          </p:cNvGrpSpPr>
          <p:nvPr/>
        </p:nvGrpSpPr>
        <p:grpSpPr>
          <a:xfrm>
            <a:off x="8890987" y="1453001"/>
            <a:ext cx="9397013" cy="7544778"/>
            <a:chOff x="0" y="0"/>
            <a:chExt cx="7467600" cy="5995670"/>
          </a:xfrm>
        </p:grpSpPr>
        <p:sp>
          <p:nvSpPr>
            <p:cNvPr id="6" name="Freeform 6"/>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7" name="Freeform 7"/>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8" name="Freeform 8"/>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2E2E2E"/>
            </a:solidFill>
          </p:spPr>
        </p:sp>
        <p:sp>
          <p:nvSpPr>
            <p:cNvPr id="9" name="Freeform 9"/>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8990" r="-8990"/>
              </a:stretch>
            </a:blipFill>
          </p:spPr>
        </p:sp>
      </p:grpSp>
      <p:sp>
        <p:nvSpPr>
          <p:cNvPr id="10" name="TextBox 10"/>
          <p:cNvSpPr txBox="1"/>
          <p:nvPr/>
        </p:nvSpPr>
        <p:spPr>
          <a:xfrm>
            <a:off x="1028700" y="3731737"/>
            <a:ext cx="8126721" cy="2910706"/>
          </a:xfrm>
          <a:prstGeom prst="rect">
            <a:avLst/>
          </a:prstGeom>
        </p:spPr>
        <p:txBody>
          <a:bodyPr lIns="0" tIns="0" rIns="0" bIns="0" rtlCol="0" anchor="t">
            <a:spAutoFit/>
          </a:bodyPr>
          <a:lstStyle/>
          <a:p>
            <a:pPr algn="l">
              <a:lnSpc>
                <a:spcPts val="11442"/>
              </a:lnSpc>
            </a:pPr>
            <a:r>
              <a:rPr lang="en-US" sz="9697" spc="-58">
                <a:solidFill>
                  <a:srgbClr val="000000"/>
                </a:solidFill>
                <a:latin typeface="TAN Headline"/>
                <a:ea typeface="TAN Headline"/>
                <a:cs typeface="TAN Headline"/>
                <a:sym typeface="TAN Headline"/>
              </a:rPr>
              <a:t>AYTO</a:t>
            </a:r>
          </a:p>
          <a:p>
            <a:pPr algn="l">
              <a:lnSpc>
                <a:spcPts val="11442"/>
              </a:lnSpc>
            </a:pPr>
            <a:r>
              <a:rPr lang="en-US" sz="9697" spc="-58">
                <a:solidFill>
                  <a:srgbClr val="000000"/>
                </a:solidFill>
                <a:latin typeface="TAN Headline"/>
                <a:ea typeface="TAN Headline"/>
                <a:cs typeface="TAN Headline"/>
                <a:sym typeface="TAN Headline"/>
              </a:rPr>
              <a:t>DEPORTE</a:t>
            </a:r>
          </a:p>
        </p:txBody>
      </p:sp>
      <p:sp>
        <p:nvSpPr>
          <p:cNvPr id="11" name="TextBox 11"/>
          <p:cNvSpPr txBox="1"/>
          <p:nvPr/>
        </p:nvSpPr>
        <p:spPr>
          <a:xfrm>
            <a:off x="1028700" y="6918204"/>
            <a:ext cx="8567927" cy="302331"/>
          </a:xfrm>
          <a:prstGeom prst="rect">
            <a:avLst/>
          </a:prstGeom>
        </p:spPr>
        <p:txBody>
          <a:bodyPr lIns="0" tIns="0" rIns="0" bIns="0" rtlCol="0" anchor="t">
            <a:spAutoFit/>
          </a:bodyPr>
          <a:lstStyle/>
          <a:p>
            <a:pPr algn="l">
              <a:lnSpc>
                <a:spcPts val="2292"/>
              </a:lnSpc>
            </a:pPr>
            <a:r>
              <a:rPr lang="en-US" sz="2519" b="1" spc="508">
                <a:solidFill>
                  <a:srgbClr val="000000"/>
                </a:solidFill>
                <a:latin typeface="Montserrat Bold"/>
                <a:ea typeface="Montserrat Bold"/>
                <a:cs typeface="Montserrat Bold"/>
                <a:sym typeface="Montserrat Bold"/>
              </a:rPr>
              <a:t>DIEGO SAELICES</a:t>
            </a:r>
          </a:p>
        </p:txBody>
      </p:sp>
      <p:sp>
        <p:nvSpPr>
          <p:cNvPr id="12" name="TextBox 12"/>
          <p:cNvSpPr txBox="1"/>
          <p:nvPr/>
        </p:nvSpPr>
        <p:spPr>
          <a:xfrm>
            <a:off x="1028700" y="2662411"/>
            <a:ext cx="8864398" cy="705434"/>
          </a:xfrm>
          <a:prstGeom prst="rect">
            <a:avLst/>
          </a:prstGeom>
        </p:spPr>
        <p:txBody>
          <a:bodyPr lIns="0" tIns="0" rIns="0" bIns="0" rtlCol="0" anchor="t">
            <a:spAutoFit/>
          </a:bodyPr>
          <a:lstStyle/>
          <a:p>
            <a:pPr algn="l">
              <a:lnSpc>
                <a:spcPts val="5441"/>
              </a:lnSpc>
            </a:pPr>
            <a:r>
              <a:rPr lang="en-US" sz="5038" spc="1299">
                <a:solidFill>
                  <a:srgbClr val="000000"/>
                </a:solidFill>
                <a:latin typeface="Montserrat Extra-Light"/>
                <a:ea typeface="Montserrat Extra-Light"/>
                <a:cs typeface="Montserrat Extra-Light"/>
                <a:sym typeface="Montserrat Extra-Light"/>
              </a:rPr>
              <a:t>PROYECTO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sp>
        <p:nvSpPr>
          <p:cNvPr id="2" name="Freeform 2"/>
          <p:cNvSpPr/>
          <p:nvPr/>
        </p:nvSpPr>
        <p:spPr>
          <a:xfrm>
            <a:off x="-1720384" y="-1119705"/>
            <a:ext cx="12791211" cy="12791211"/>
          </a:xfrm>
          <a:custGeom>
            <a:avLst/>
            <a:gdLst/>
            <a:ahLst/>
            <a:cxnLst/>
            <a:rect l="l" t="t" r="r" b="b"/>
            <a:pathLst>
              <a:path w="12791211" h="12791211">
                <a:moveTo>
                  <a:pt x="0" y="0"/>
                </a:moveTo>
                <a:lnTo>
                  <a:pt x="12791211" y="0"/>
                </a:lnTo>
                <a:lnTo>
                  <a:pt x="12791211" y="12791210"/>
                </a:lnTo>
                <a:lnTo>
                  <a:pt x="0" y="12791210"/>
                </a:lnTo>
                <a:lnTo>
                  <a:pt x="0" y="0"/>
                </a:lnTo>
                <a:close/>
              </a:path>
            </a:pathLst>
          </a:custGeom>
          <a:blipFill>
            <a:blip r:embed="rId2"/>
            <a:stretch>
              <a:fillRect/>
            </a:stretch>
          </a:blipFill>
        </p:spPr>
      </p:sp>
      <p:sp>
        <p:nvSpPr>
          <p:cNvPr id="3" name="TextBox 3"/>
          <p:cNvSpPr txBox="1"/>
          <p:nvPr/>
        </p:nvSpPr>
        <p:spPr>
          <a:xfrm>
            <a:off x="10863213" y="500250"/>
            <a:ext cx="6544472" cy="8943601"/>
          </a:xfrm>
          <a:prstGeom prst="rect">
            <a:avLst/>
          </a:prstGeom>
        </p:spPr>
        <p:txBody>
          <a:bodyPr lIns="0" tIns="0" rIns="0" bIns="0" rtlCol="0" anchor="t">
            <a:spAutoFit/>
          </a:bodyPr>
          <a:lstStyle/>
          <a:p>
            <a:pPr algn="l">
              <a:lnSpc>
                <a:spcPts val="8995"/>
              </a:lnSpc>
            </a:pPr>
            <a:r>
              <a:rPr lang="en-US" sz="4431" spc="381">
                <a:solidFill>
                  <a:srgbClr val="000000"/>
                </a:solidFill>
                <a:latin typeface="TAN Headline"/>
                <a:ea typeface="TAN Headline"/>
                <a:cs typeface="TAN Headline"/>
                <a:sym typeface="TAN Headline"/>
              </a:rPr>
              <a:t>Introducción</a:t>
            </a:r>
          </a:p>
          <a:p>
            <a:pPr algn="l">
              <a:lnSpc>
                <a:spcPts val="8995"/>
              </a:lnSpc>
            </a:pPr>
            <a:r>
              <a:rPr lang="en-US" sz="4431" spc="381">
                <a:solidFill>
                  <a:srgbClr val="000000"/>
                </a:solidFill>
                <a:latin typeface="TAN Headline"/>
                <a:ea typeface="TAN Headline"/>
                <a:cs typeface="TAN Headline"/>
                <a:sym typeface="TAN Headline"/>
              </a:rPr>
              <a:t>Instalaciones</a:t>
            </a:r>
          </a:p>
          <a:p>
            <a:pPr algn="l">
              <a:lnSpc>
                <a:spcPts val="8995"/>
              </a:lnSpc>
            </a:pPr>
            <a:r>
              <a:rPr lang="en-US" sz="4431" spc="381">
                <a:solidFill>
                  <a:srgbClr val="000000"/>
                </a:solidFill>
                <a:latin typeface="TAN Headline"/>
                <a:ea typeface="TAN Headline"/>
                <a:cs typeface="TAN Headline"/>
                <a:sym typeface="TAN Headline"/>
              </a:rPr>
              <a:t>Reservar</a:t>
            </a:r>
          </a:p>
          <a:p>
            <a:pPr algn="l">
              <a:lnSpc>
                <a:spcPts val="8995"/>
              </a:lnSpc>
            </a:pPr>
            <a:r>
              <a:rPr lang="en-US" sz="4431" spc="381">
                <a:solidFill>
                  <a:srgbClr val="000000"/>
                </a:solidFill>
                <a:latin typeface="TAN Headline"/>
                <a:ea typeface="TAN Headline"/>
                <a:cs typeface="TAN Headline"/>
                <a:sym typeface="TAN Headline"/>
              </a:rPr>
              <a:t>Panel de control</a:t>
            </a:r>
          </a:p>
          <a:p>
            <a:pPr algn="l">
              <a:lnSpc>
                <a:spcPts val="8995"/>
              </a:lnSpc>
            </a:pPr>
            <a:r>
              <a:rPr lang="en-US" sz="4431" spc="381">
                <a:solidFill>
                  <a:srgbClr val="000000"/>
                </a:solidFill>
                <a:latin typeface="TAN Headline"/>
                <a:ea typeface="TAN Headline"/>
                <a:cs typeface="TAN Headline"/>
                <a:sym typeface="TAN Headline"/>
              </a:rPr>
              <a:t>Sobre mi</a:t>
            </a:r>
          </a:p>
          <a:p>
            <a:pPr algn="l">
              <a:lnSpc>
                <a:spcPts val="8995"/>
              </a:lnSpc>
            </a:pPr>
            <a:r>
              <a:rPr lang="en-US" sz="4431" spc="381">
                <a:solidFill>
                  <a:srgbClr val="000000"/>
                </a:solidFill>
                <a:latin typeface="TAN Headline"/>
                <a:ea typeface="TAN Headline"/>
                <a:cs typeface="TAN Headline"/>
                <a:sym typeface="TAN Headline"/>
              </a:rPr>
              <a:t>Mi perfil</a:t>
            </a:r>
          </a:p>
          <a:p>
            <a:pPr algn="l">
              <a:lnSpc>
                <a:spcPts val="8995"/>
              </a:lnSpc>
            </a:pPr>
            <a:r>
              <a:rPr lang="en-US" sz="4431" spc="381">
                <a:solidFill>
                  <a:srgbClr val="000000"/>
                </a:solidFill>
                <a:latin typeface="TAN Headline"/>
                <a:ea typeface="TAN Headline"/>
                <a:cs typeface="TAN Headline"/>
                <a:sym typeface="TAN Headline"/>
              </a:rPr>
              <a:t>Autenticación de usuarios</a:t>
            </a:r>
          </a:p>
        </p:txBody>
      </p:sp>
      <p:sp>
        <p:nvSpPr>
          <p:cNvPr id="4" name="TextBox 4"/>
          <p:cNvSpPr txBox="1"/>
          <p:nvPr/>
        </p:nvSpPr>
        <p:spPr>
          <a:xfrm>
            <a:off x="9144000" y="590550"/>
            <a:ext cx="1444428" cy="7595703"/>
          </a:xfrm>
          <a:prstGeom prst="rect">
            <a:avLst/>
          </a:prstGeom>
        </p:spPr>
        <p:txBody>
          <a:bodyPr lIns="0" tIns="0" rIns="0" bIns="0" rtlCol="0" anchor="t">
            <a:spAutoFit/>
          </a:bodyPr>
          <a:lstStyle/>
          <a:p>
            <a:pPr algn="r">
              <a:lnSpc>
                <a:spcPts val="8733"/>
              </a:lnSpc>
            </a:pPr>
            <a:r>
              <a:rPr lang="en-US" sz="3493" spc="227">
                <a:solidFill>
                  <a:srgbClr val="000000"/>
                </a:solidFill>
                <a:latin typeface="Montserrat"/>
                <a:ea typeface="Montserrat"/>
                <a:cs typeface="Montserrat"/>
                <a:sym typeface="Montserrat"/>
              </a:rPr>
              <a:t>01</a:t>
            </a:r>
          </a:p>
          <a:p>
            <a:pPr algn="r">
              <a:lnSpc>
                <a:spcPts val="8733"/>
              </a:lnSpc>
            </a:pPr>
            <a:r>
              <a:rPr lang="en-US" sz="3493" spc="227">
                <a:solidFill>
                  <a:srgbClr val="000000"/>
                </a:solidFill>
                <a:latin typeface="Montserrat"/>
                <a:ea typeface="Montserrat"/>
                <a:cs typeface="Montserrat"/>
                <a:sym typeface="Montserrat"/>
              </a:rPr>
              <a:t>02</a:t>
            </a:r>
          </a:p>
          <a:p>
            <a:pPr algn="r">
              <a:lnSpc>
                <a:spcPts val="8733"/>
              </a:lnSpc>
            </a:pPr>
            <a:r>
              <a:rPr lang="en-US" sz="3493" spc="227">
                <a:solidFill>
                  <a:srgbClr val="000000"/>
                </a:solidFill>
                <a:latin typeface="Montserrat"/>
                <a:ea typeface="Montserrat"/>
                <a:cs typeface="Montserrat"/>
                <a:sym typeface="Montserrat"/>
              </a:rPr>
              <a:t>03</a:t>
            </a:r>
          </a:p>
          <a:p>
            <a:pPr algn="r">
              <a:lnSpc>
                <a:spcPts val="8733"/>
              </a:lnSpc>
            </a:pPr>
            <a:r>
              <a:rPr lang="en-US" sz="3493" spc="227">
                <a:solidFill>
                  <a:srgbClr val="000000"/>
                </a:solidFill>
                <a:latin typeface="Montserrat"/>
                <a:ea typeface="Montserrat"/>
                <a:cs typeface="Montserrat"/>
                <a:sym typeface="Montserrat"/>
              </a:rPr>
              <a:t>04</a:t>
            </a:r>
          </a:p>
          <a:p>
            <a:pPr algn="r">
              <a:lnSpc>
                <a:spcPts val="8733"/>
              </a:lnSpc>
            </a:pPr>
            <a:r>
              <a:rPr lang="en-US" sz="3493" spc="227">
                <a:solidFill>
                  <a:srgbClr val="000000"/>
                </a:solidFill>
                <a:latin typeface="Montserrat"/>
                <a:ea typeface="Montserrat"/>
                <a:cs typeface="Montserrat"/>
                <a:sym typeface="Montserrat"/>
              </a:rPr>
              <a:t>05</a:t>
            </a:r>
          </a:p>
          <a:p>
            <a:pPr algn="r">
              <a:lnSpc>
                <a:spcPts val="8733"/>
              </a:lnSpc>
            </a:pPr>
            <a:r>
              <a:rPr lang="en-US" sz="3493" spc="227">
                <a:solidFill>
                  <a:srgbClr val="000000"/>
                </a:solidFill>
                <a:latin typeface="Montserrat"/>
                <a:ea typeface="Montserrat"/>
                <a:cs typeface="Montserrat"/>
                <a:sym typeface="Montserrat"/>
              </a:rPr>
              <a:t>06</a:t>
            </a:r>
          </a:p>
          <a:p>
            <a:pPr algn="r">
              <a:lnSpc>
                <a:spcPts val="8733"/>
              </a:lnSpc>
            </a:pPr>
            <a:r>
              <a:rPr lang="en-US" sz="3493" spc="227">
                <a:solidFill>
                  <a:srgbClr val="000000"/>
                </a:solidFill>
                <a:latin typeface="Montserrat"/>
                <a:ea typeface="Montserrat"/>
                <a:cs typeface="Montserrat"/>
                <a:sym typeface="Montserrat"/>
              </a:rPr>
              <a:t>07</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0794892" y="1504827"/>
            <a:ext cx="5284391" cy="7322737"/>
            <a:chOff x="0" y="0"/>
            <a:chExt cx="4734560" cy="6560820"/>
          </a:xfrm>
        </p:grpSpPr>
        <p:sp>
          <p:nvSpPr>
            <p:cNvPr id="3" name="Freeform 3"/>
            <p:cNvSpPr/>
            <p:nvPr/>
          </p:nvSpPr>
          <p:spPr>
            <a:xfrm>
              <a:off x="36830" y="50800"/>
              <a:ext cx="4645660" cy="6473190"/>
            </a:xfrm>
            <a:custGeom>
              <a:avLst/>
              <a:gdLst/>
              <a:ahLst/>
              <a:cxnLst/>
              <a:rect l="l" t="t" r="r" b="b"/>
              <a:pathLst>
                <a:path w="4645660" h="6473190">
                  <a:moveTo>
                    <a:pt x="4368800" y="0"/>
                  </a:moveTo>
                  <a:lnTo>
                    <a:pt x="276860" y="0"/>
                  </a:lnTo>
                  <a:cubicBezTo>
                    <a:pt x="124460" y="0"/>
                    <a:pt x="0" y="123190"/>
                    <a:pt x="0" y="276860"/>
                  </a:cubicBezTo>
                  <a:lnTo>
                    <a:pt x="0" y="6196330"/>
                  </a:lnTo>
                  <a:cubicBezTo>
                    <a:pt x="0" y="6350000"/>
                    <a:pt x="124460" y="6473190"/>
                    <a:pt x="276860" y="6473190"/>
                  </a:cubicBezTo>
                  <a:lnTo>
                    <a:pt x="4368800" y="6473190"/>
                  </a:lnTo>
                  <a:cubicBezTo>
                    <a:pt x="4522470" y="6473190"/>
                    <a:pt x="4645660" y="6348730"/>
                    <a:pt x="4645660" y="6196330"/>
                  </a:cubicBezTo>
                  <a:lnTo>
                    <a:pt x="4645660" y="276860"/>
                  </a:lnTo>
                  <a:cubicBezTo>
                    <a:pt x="4645660" y="123190"/>
                    <a:pt x="4522470" y="0"/>
                    <a:pt x="4368800" y="0"/>
                  </a:cubicBezTo>
                  <a:close/>
                  <a:moveTo>
                    <a:pt x="4425950" y="6156960"/>
                  </a:moveTo>
                  <a:cubicBezTo>
                    <a:pt x="4425950" y="6212840"/>
                    <a:pt x="4380230" y="6258560"/>
                    <a:pt x="4324350" y="6258560"/>
                  </a:cubicBezTo>
                  <a:lnTo>
                    <a:pt x="321310" y="6258560"/>
                  </a:lnTo>
                  <a:cubicBezTo>
                    <a:pt x="265430" y="6258560"/>
                    <a:pt x="219710" y="6212840"/>
                    <a:pt x="219710" y="6156960"/>
                  </a:cubicBezTo>
                  <a:lnTo>
                    <a:pt x="219710" y="316230"/>
                  </a:lnTo>
                  <a:cubicBezTo>
                    <a:pt x="219710" y="260350"/>
                    <a:pt x="265430" y="214630"/>
                    <a:pt x="321310" y="214630"/>
                  </a:cubicBezTo>
                  <a:lnTo>
                    <a:pt x="4325620" y="214630"/>
                  </a:lnTo>
                  <a:cubicBezTo>
                    <a:pt x="4381500" y="214630"/>
                    <a:pt x="4427220" y="260350"/>
                    <a:pt x="4427220" y="316230"/>
                  </a:cubicBezTo>
                  <a:lnTo>
                    <a:pt x="4427220" y="6156960"/>
                  </a:lnTo>
                  <a:close/>
                </a:path>
              </a:pathLst>
            </a:custGeom>
            <a:solidFill>
              <a:srgbClr val="010101"/>
            </a:solidFill>
          </p:spPr>
        </p:sp>
        <p:sp>
          <p:nvSpPr>
            <p:cNvPr id="4" name="Freeform 4"/>
            <p:cNvSpPr/>
            <p:nvPr/>
          </p:nvSpPr>
          <p:spPr>
            <a:xfrm>
              <a:off x="0" y="16511"/>
              <a:ext cx="4716780" cy="6544310"/>
            </a:xfrm>
            <a:custGeom>
              <a:avLst/>
              <a:gdLst/>
              <a:ahLst/>
              <a:cxnLst/>
              <a:rect l="l" t="t" r="r" b="b"/>
              <a:pathLst>
                <a:path w="4716780" h="6544310">
                  <a:moveTo>
                    <a:pt x="4395470" y="36829"/>
                  </a:moveTo>
                  <a:cubicBezTo>
                    <a:pt x="4552950" y="36829"/>
                    <a:pt x="4681220" y="165099"/>
                    <a:pt x="4681220" y="322579"/>
                  </a:cubicBezTo>
                  <a:lnTo>
                    <a:pt x="4681220" y="6222999"/>
                  </a:lnTo>
                  <a:cubicBezTo>
                    <a:pt x="4681220" y="6380479"/>
                    <a:pt x="4552950" y="6508750"/>
                    <a:pt x="4395470" y="6508750"/>
                  </a:cubicBezTo>
                  <a:lnTo>
                    <a:pt x="321310" y="6508750"/>
                  </a:lnTo>
                  <a:cubicBezTo>
                    <a:pt x="163830" y="6508750"/>
                    <a:pt x="35560" y="6380480"/>
                    <a:pt x="35560" y="6223000"/>
                  </a:cubicBezTo>
                  <a:lnTo>
                    <a:pt x="35560" y="322580"/>
                  </a:lnTo>
                  <a:cubicBezTo>
                    <a:pt x="35560" y="165100"/>
                    <a:pt x="163830" y="36830"/>
                    <a:pt x="321310" y="36830"/>
                  </a:cubicBezTo>
                  <a:lnTo>
                    <a:pt x="4395470" y="36830"/>
                  </a:lnTo>
                  <a:moveTo>
                    <a:pt x="4395470" y="0"/>
                  </a:moveTo>
                  <a:lnTo>
                    <a:pt x="321310" y="0"/>
                  </a:lnTo>
                  <a:cubicBezTo>
                    <a:pt x="143510" y="0"/>
                    <a:pt x="0" y="144780"/>
                    <a:pt x="0" y="322580"/>
                  </a:cubicBezTo>
                  <a:lnTo>
                    <a:pt x="0" y="6223000"/>
                  </a:lnTo>
                  <a:cubicBezTo>
                    <a:pt x="0" y="6400800"/>
                    <a:pt x="143510" y="6544309"/>
                    <a:pt x="321310" y="6544309"/>
                  </a:cubicBezTo>
                  <a:lnTo>
                    <a:pt x="4395470" y="6544309"/>
                  </a:lnTo>
                  <a:cubicBezTo>
                    <a:pt x="4573270" y="6544309"/>
                    <a:pt x="4716780" y="6400800"/>
                    <a:pt x="4716780" y="6223000"/>
                  </a:cubicBezTo>
                  <a:lnTo>
                    <a:pt x="4716780" y="322580"/>
                  </a:lnTo>
                  <a:cubicBezTo>
                    <a:pt x="4716780" y="144780"/>
                    <a:pt x="4573270" y="0"/>
                    <a:pt x="4395470" y="0"/>
                  </a:cubicBezTo>
                  <a:close/>
                </a:path>
              </a:pathLst>
            </a:custGeom>
            <a:solidFill>
              <a:srgbClr val="565656"/>
            </a:solidFill>
          </p:spPr>
        </p:sp>
        <p:sp>
          <p:nvSpPr>
            <p:cNvPr id="5" name="Freeform 5"/>
            <p:cNvSpPr/>
            <p:nvPr/>
          </p:nvSpPr>
          <p:spPr>
            <a:xfrm>
              <a:off x="256540" y="265430"/>
              <a:ext cx="4207510" cy="6043930"/>
            </a:xfrm>
            <a:custGeom>
              <a:avLst/>
              <a:gdLst/>
              <a:ahLst/>
              <a:cxnLst/>
              <a:rect l="l" t="t" r="r" b="b"/>
              <a:pathLst>
                <a:path w="4207510" h="6043930">
                  <a:moveTo>
                    <a:pt x="4206240" y="5942330"/>
                  </a:moveTo>
                  <a:cubicBezTo>
                    <a:pt x="4206240" y="5998210"/>
                    <a:pt x="4160520" y="6043930"/>
                    <a:pt x="4104640" y="6043930"/>
                  </a:cubicBezTo>
                  <a:lnTo>
                    <a:pt x="101600" y="6043930"/>
                  </a:lnTo>
                  <a:cubicBezTo>
                    <a:pt x="45720" y="6043930"/>
                    <a:pt x="0" y="5998210"/>
                    <a:pt x="0" y="5942330"/>
                  </a:cubicBezTo>
                  <a:lnTo>
                    <a:pt x="0" y="101600"/>
                  </a:lnTo>
                  <a:cubicBezTo>
                    <a:pt x="0" y="45720"/>
                    <a:pt x="45720" y="0"/>
                    <a:pt x="101600" y="0"/>
                  </a:cubicBezTo>
                  <a:lnTo>
                    <a:pt x="4105910" y="0"/>
                  </a:lnTo>
                  <a:cubicBezTo>
                    <a:pt x="4161790" y="0"/>
                    <a:pt x="4207510" y="45720"/>
                    <a:pt x="4207510" y="101600"/>
                  </a:cubicBezTo>
                  <a:lnTo>
                    <a:pt x="4207510" y="5942330"/>
                  </a:lnTo>
                  <a:close/>
                </a:path>
              </a:pathLst>
            </a:custGeom>
            <a:blipFill>
              <a:blip r:embed="rId2"/>
              <a:stretch>
                <a:fillRect t="-14892" b="-14892"/>
              </a:stretch>
            </a:blipFill>
          </p:spPr>
        </p:sp>
        <p:sp>
          <p:nvSpPr>
            <p:cNvPr id="6" name="Freeform 6"/>
            <p:cNvSpPr/>
            <p:nvPr/>
          </p:nvSpPr>
          <p:spPr>
            <a:xfrm>
              <a:off x="1953089" y="120650"/>
              <a:ext cx="76541" cy="76201"/>
            </a:xfrm>
            <a:custGeom>
              <a:avLst/>
              <a:gdLst/>
              <a:ahLst/>
              <a:cxnLst/>
              <a:rect l="l" t="t" r="r" b="b"/>
              <a:pathLst>
                <a:path w="76541" h="76201">
                  <a:moveTo>
                    <a:pt x="38271" y="0"/>
                  </a:moveTo>
                  <a:cubicBezTo>
                    <a:pt x="24619" y="-61"/>
                    <a:pt x="11977" y="7187"/>
                    <a:pt x="5133" y="19001"/>
                  </a:cubicBezTo>
                  <a:cubicBezTo>
                    <a:pt x="-1711" y="30814"/>
                    <a:pt x="-1711" y="45386"/>
                    <a:pt x="5133" y="57199"/>
                  </a:cubicBezTo>
                  <a:cubicBezTo>
                    <a:pt x="11977" y="69013"/>
                    <a:pt x="24619" y="76261"/>
                    <a:pt x="38271" y="76200"/>
                  </a:cubicBezTo>
                  <a:cubicBezTo>
                    <a:pt x="51923" y="76261"/>
                    <a:pt x="64565" y="69013"/>
                    <a:pt x="71409" y="57199"/>
                  </a:cubicBezTo>
                  <a:cubicBezTo>
                    <a:pt x="78253" y="45386"/>
                    <a:pt x="78253" y="30814"/>
                    <a:pt x="71409" y="19001"/>
                  </a:cubicBezTo>
                  <a:cubicBezTo>
                    <a:pt x="64565" y="7187"/>
                    <a:pt x="51923" y="-61"/>
                    <a:pt x="38271" y="0"/>
                  </a:cubicBezTo>
                  <a:close/>
                </a:path>
              </a:pathLst>
            </a:custGeom>
            <a:solidFill>
              <a:srgbClr val="333333"/>
            </a:solidFill>
          </p:spPr>
        </p:sp>
        <p:sp>
          <p:nvSpPr>
            <p:cNvPr id="7" name="Freeform 7"/>
            <p:cNvSpPr/>
            <p:nvPr/>
          </p:nvSpPr>
          <p:spPr>
            <a:xfrm>
              <a:off x="2121925" y="104139"/>
              <a:ext cx="109709" cy="109221"/>
            </a:xfrm>
            <a:custGeom>
              <a:avLst/>
              <a:gdLst/>
              <a:ahLst/>
              <a:cxnLst/>
              <a:rect l="l" t="t" r="r" b="b"/>
              <a:pathLst>
                <a:path w="109709" h="109221">
                  <a:moveTo>
                    <a:pt x="54855" y="1"/>
                  </a:moveTo>
                  <a:cubicBezTo>
                    <a:pt x="35287" y="-87"/>
                    <a:pt x="17167" y="10303"/>
                    <a:pt x="7357" y="27235"/>
                  </a:cubicBezTo>
                  <a:cubicBezTo>
                    <a:pt x="-2452" y="44168"/>
                    <a:pt x="-2452" y="65054"/>
                    <a:pt x="7357" y="81987"/>
                  </a:cubicBezTo>
                  <a:cubicBezTo>
                    <a:pt x="17167" y="98919"/>
                    <a:pt x="35287" y="109309"/>
                    <a:pt x="54855" y="109221"/>
                  </a:cubicBezTo>
                  <a:cubicBezTo>
                    <a:pt x="74423" y="109309"/>
                    <a:pt x="92543" y="98919"/>
                    <a:pt x="102352" y="81987"/>
                  </a:cubicBezTo>
                  <a:cubicBezTo>
                    <a:pt x="112162" y="65054"/>
                    <a:pt x="112162" y="44168"/>
                    <a:pt x="102352" y="27235"/>
                  </a:cubicBezTo>
                  <a:cubicBezTo>
                    <a:pt x="92543" y="10303"/>
                    <a:pt x="74423" y="-87"/>
                    <a:pt x="54855" y="1"/>
                  </a:cubicBezTo>
                  <a:close/>
                </a:path>
              </a:pathLst>
            </a:custGeom>
            <a:solidFill>
              <a:srgbClr val="333333"/>
            </a:solidFill>
          </p:spPr>
        </p:sp>
        <p:sp>
          <p:nvSpPr>
            <p:cNvPr id="8" name="Freeform 8"/>
            <p:cNvSpPr/>
            <p:nvPr/>
          </p:nvSpPr>
          <p:spPr>
            <a:xfrm>
              <a:off x="2330313" y="128270"/>
              <a:ext cx="61233" cy="60961"/>
            </a:xfrm>
            <a:custGeom>
              <a:avLst/>
              <a:gdLst/>
              <a:ahLst/>
              <a:cxnLst/>
              <a:rect l="l" t="t" r="r" b="b"/>
              <a:pathLst>
                <a:path w="61233" h="60961">
                  <a:moveTo>
                    <a:pt x="30617" y="0"/>
                  </a:moveTo>
                  <a:cubicBezTo>
                    <a:pt x="19695" y="-49"/>
                    <a:pt x="9582" y="5750"/>
                    <a:pt x="4107" y="15201"/>
                  </a:cubicBezTo>
                  <a:cubicBezTo>
                    <a:pt x="-1369" y="24651"/>
                    <a:pt x="-1369" y="36309"/>
                    <a:pt x="4107" y="45759"/>
                  </a:cubicBezTo>
                  <a:cubicBezTo>
                    <a:pt x="9582" y="55210"/>
                    <a:pt x="19695" y="61009"/>
                    <a:pt x="30617" y="60960"/>
                  </a:cubicBezTo>
                  <a:cubicBezTo>
                    <a:pt x="41539" y="61009"/>
                    <a:pt x="51652" y="55210"/>
                    <a:pt x="57127" y="45759"/>
                  </a:cubicBezTo>
                  <a:cubicBezTo>
                    <a:pt x="62602" y="36309"/>
                    <a:pt x="62602" y="24651"/>
                    <a:pt x="57127" y="15201"/>
                  </a:cubicBezTo>
                  <a:cubicBezTo>
                    <a:pt x="51652" y="5750"/>
                    <a:pt x="41539" y="-49"/>
                    <a:pt x="30617" y="0"/>
                  </a:cubicBezTo>
                  <a:close/>
                </a:path>
              </a:pathLst>
            </a:custGeom>
            <a:solidFill>
              <a:srgbClr val="333333"/>
            </a:solidFill>
          </p:spPr>
        </p:sp>
        <p:sp>
          <p:nvSpPr>
            <p:cNvPr id="9" name="Freeform 9"/>
            <p:cNvSpPr/>
            <p:nvPr/>
          </p:nvSpPr>
          <p:spPr>
            <a:xfrm>
              <a:off x="2346897" y="144780"/>
              <a:ext cx="28065" cy="27940"/>
            </a:xfrm>
            <a:custGeom>
              <a:avLst/>
              <a:gdLst/>
              <a:ahLst/>
              <a:cxnLst/>
              <a:rect l="l" t="t" r="r" b="b"/>
              <a:pathLst>
                <a:path w="28065" h="27940">
                  <a:moveTo>
                    <a:pt x="14033" y="0"/>
                  </a:moveTo>
                  <a:cubicBezTo>
                    <a:pt x="9027" y="-22"/>
                    <a:pt x="4392" y="2635"/>
                    <a:pt x="1882" y="6967"/>
                  </a:cubicBezTo>
                  <a:cubicBezTo>
                    <a:pt x="-627" y="11298"/>
                    <a:pt x="-627" y="16642"/>
                    <a:pt x="1882" y="20973"/>
                  </a:cubicBezTo>
                  <a:cubicBezTo>
                    <a:pt x="4392" y="25305"/>
                    <a:pt x="9027" y="27962"/>
                    <a:pt x="14033" y="27940"/>
                  </a:cubicBezTo>
                  <a:cubicBezTo>
                    <a:pt x="19039" y="27962"/>
                    <a:pt x="23674" y="25305"/>
                    <a:pt x="26184" y="20973"/>
                  </a:cubicBezTo>
                  <a:cubicBezTo>
                    <a:pt x="28693" y="16642"/>
                    <a:pt x="28693" y="11298"/>
                    <a:pt x="26184" y="6967"/>
                  </a:cubicBezTo>
                  <a:cubicBezTo>
                    <a:pt x="23674" y="2635"/>
                    <a:pt x="19039" y="-22"/>
                    <a:pt x="14033" y="0"/>
                  </a:cubicBezTo>
                  <a:close/>
                </a:path>
              </a:pathLst>
            </a:custGeom>
            <a:solidFill>
              <a:srgbClr val="E9E8E9"/>
            </a:solidFill>
          </p:spPr>
        </p:sp>
        <p:sp>
          <p:nvSpPr>
            <p:cNvPr id="10" name="Freeform 10"/>
            <p:cNvSpPr/>
            <p:nvPr/>
          </p:nvSpPr>
          <p:spPr>
            <a:xfrm>
              <a:off x="2344386" y="144780"/>
              <a:ext cx="15308" cy="15240"/>
            </a:xfrm>
            <a:custGeom>
              <a:avLst/>
              <a:gdLst/>
              <a:ahLst/>
              <a:cxnLst/>
              <a:rect l="l" t="t" r="r" b="b"/>
              <a:pathLst>
                <a:path w="15308" h="15240">
                  <a:moveTo>
                    <a:pt x="7654" y="0"/>
                  </a:moveTo>
                  <a:cubicBezTo>
                    <a:pt x="4924" y="-12"/>
                    <a:pt x="2395" y="1437"/>
                    <a:pt x="1026" y="3800"/>
                  </a:cubicBezTo>
                  <a:cubicBezTo>
                    <a:pt x="-342" y="6163"/>
                    <a:pt x="-342" y="9077"/>
                    <a:pt x="1026" y="11440"/>
                  </a:cubicBezTo>
                  <a:cubicBezTo>
                    <a:pt x="2395" y="13803"/>
                    <a:pt x="4924" y="15252"/>
                    <a:pt x="7654" y="15240"/>
                  </a:cubicBezTo>
                  <a:cubicBezTo>
                    <a:pt x="10384" y="15252"/>
                    <a:pt x="12913" y="13803"/>
                    <a:pt x="14281" y="11440"/>
                  </a:cubicBezTo>
                  <a:cubicBezTo>
                    <a:pt x="15650" y="9077"/>
                    <a:pt x="15650" y="6163"/>
                    <a:pt x="14281" y="3800"/>
                  </a:cubicBezTo>
                  <a:cubicBezTo>
                    <a:pt x="12913" y="1437"/>
                    <a:pt x="10384" y="-12"/>
                    <a:pt x="7654" y="0"/>
                  </a:cubicBezTo>
                  <a:close/>
                </a:path>
              </a:pathLst>
            </a:custGeom>
            <a:solidFill>
              <a:srgbClr val="010101"/>
            </a:solidFill>
          </p:spPr>
        </p:sp>
        <p:sp>
          <p:nvSpPr>
            <p:cNvPr id="11" name="Freeform 11"/>
            <p:cNvSpPr/>
            <p:nvPr/>
          </p:nvSpPr>
          <p:spPr>
            <a:xfrm>
              <a:off x="4716780" y="534670"/>
              <a:ext cx="16622" cy="278130"/>
            </a:xfrm>
            <a:custGeom>
              <a:avLst/>
              <a:gdLst/>
              <a:ahLst/>
              <a:cxnLst/>
              <a:rect l="l" t="t" r="r" b="b"/>
              <a:pathLst>
                <a:path w="16622" h="278130">
                  <a:moveTo>
                    <a:pt x="0" y="0"/>
                  </a:moveTo>
                  <a:lnTo>
                    <a:pt x="0" y="278130"/>
                  </a:lnTo>
                  <a:cubicBezTo>
                    <a:pt x="19050" y="278130"/>
                    <a:pt x="16510" y="262890"/>
                    <a:pt x="16510" y="243840"/>
                  </a:cubicBezTo>
                  <a:lnTo>
                    <a:pt x="16510" y="35560"/>
                  </a:lnTo>
                  <a:cubicBezTo>
                    <a:pt x="16510" y="16510"/>
                    <a:pt x="19050" y="0"/>
                    <a:pt x="0" y="0"/>
                  </a:cubicBezTo>
                  <a:close/>
                </a:path>
              </a:pathLst>
            </a:custGeom>
            <a:solidFill>
              <a:srgbClr val="424242"/>
            </a:solidFill>
          </p:spPr>
        </p:sp>
        <p:sp>
          <p:nvSpPr>
            <p:cNvPr id="12" name="Freeform 12"/>
            <p:cNvSpPr/>
            <p:nvPr/>
          </p:nvSpPr>
          <p:spPr>
            <a:xfrm>
              <a:off x="4716780" y="861060"/>
              <a:ext cx="16622" cy="278130"/>
            </a:xfrm>
            <a:custGeom>
              <a:avLst/>
              <a:gdLst/>
              <a:ahLst/>
              <a:cxnLst/>
              <a:rect l="l" t="t" r="r" b="b"/>
              <a:pathLst>
                <a:path w="16622" h="278130">
                  <a:moveTo>
                    <a:pt x="0" y="0"/>
                  </a:moveTo>
                  <a:lnTo>
                    <a:pt x="0" y="278130"/>
                  </a:lnTo>
                  <a:cubicBezTo>
                    <a:pt x="19050" y="278130"/>
                    <a:pt x="16510" y="262890"/>
                    <a:pt x="16510" y="243840"/>
                  </a:cubicBezTo>
                  <a:lnTo>
                    <a:pt x="16510" y="35560"/>
                  </a:lnTo>
                  <a:cubicBezTo>
                    <a:pt x="16510" y="16510"/>
                    <a:pt x="19050" y="0"/>
                    <a:pt x="0" y="0"/>
                  </a:cubicBezTo>
                  <a:close/>
                </a:path>
              </a:pathLst>
            </a:custGeom>
            <a:solidFill>
              <a:srgbClr val="424242"/>
            </a:solidFill>
          </p:spPr>
        </p:sp>
        <p:sp>
          <p:nvSpPr>
            <p:cNvPr id="13" name="Freeform 13"/>
            <p:cNvSpPr/>
            <p:nvPr/>
          </p:nvSpPr>
          <p:spPr>
            <a:xfrm>
              <a:off x="4064000" y="-113"/>
              <a:ext cx="320040" cy="16623"/>
            </a:xfrm>
            <a:custGeom>
              <a:avLst/>
              <a:gdLst/>
              <a:ahLst/>
              <a:cxnLst/>
              <a:rect l="l" t="t" r="r" b="b"/>
              <a:pathLst>
                <a:path w="320040" h="16623">
                  <a:moveTo>
                    <a:pt x="0" y="16623"/>
                  </a:moveTo>
                  <a:lnTo>
                    <a:pt x="320040" y="16623"/>
                  </a:lnTo>
                  <a:cubicBezTo>
                    <a:pt x="320040" y="-2427"/>
                    <a:pt x="304800" y="113"/>
                    <a:pt x="285750" y="113"/>
                  </a:cubicBezTo>
                  <a:lnTo>
                    <a:pt x="34290" y="113"/>
                  </a:lnTo>
                  <a:cubicBezTo>
                    <a:pt x="15240" y="113"/>
                    <a:pt x="0" y="-2427"/>
                    <a:pt x="0" y="16623"/>
                  </a:cubicBezTo>
                  <a:close/>
                </a:path>
              </a:pathLst>
            </a:custGeom>
            <a:solidFill>
              <a:srgbClr val="424242"/>
            </a:solidFill>
          </p:spPr>
        </p:sp>
      </p:grpSp>
      <p:sp>
        <p:nvSpPr>
          <p:cNvPr id="14" name="TextBox 14"/>
          <p:cNvSpPr txBox="1"/>
          <p:nvPr/>
        </p:nvSpPr>
        <p:spPr>
          <a:xfrm>
            <a:off x="1028700" y="685800"/>
            <a:ext cx="6544472" cy="1012571"/>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Introducción</a:t>
            </a:r>
          </a:p>
        </p:txBody>
      </p:sp>
      <p:sp>
        <p:nvSpPr>
          <p:cNvPr id="15" name="TextBox 15"/>
          <p:cNvSpPr txBox="1"/>
          <p:nvPr/>
        </p:nvSpPr>
        <p:spPr>
          <a:xfrm>
            <a:off x="696151" y="983427"/>
            <a:ext cx="1677163" cy="2922397"/>
          </a:xfrm>
          <a:prstGeom prst="rect">
            <a:avLst/>
          </a:prstGeom>
        </p:spPr>
        <p:txBody>
          <a:bodyPr lIns="0" tIns="0" rIns="0" bIns="0" rtlCol="0" anchor="t">
            <a:spAutoFit/>
          </a:bodyPr>
          <a:lstStyle/>
          <a:p>
            <a:pPr algn="r">
              <a:lnSpc>
                <a:spcPts val="25820"/>
              </a:lnSpc>
            </a:pPr>
            <a:r>
              <a:rPr lang="en-US" sz="12719" spc="1093">
                <a:solidFill>
                  <a:srgbClr val="183263"/>
                </a:solidFill>
                <a:latin typeface="Montserrat"/>
                <a:ea typeface="Montserrat"/>
                <a:cs typeface="Montserrat"/>
                <a:sym typeface="Montserrat"/>
              </a:rPr>
              <a:t>1</a:t>
            </a:r>
          </a:p>
        </p:txBody>
      </p:sp>
      <p:sp>
        <p:nvSpPr>
          <p:cNvPr id="16" name="TextBox 16"/>
          <p:cNvSpPr txBox="1"/>
          <p:nvPr/>
        </p:nvSpPr>
        <p:spPr>
          <a:xfrm>
            <a:off x="696151" y="2798218"/>
            <a:ext cx="1677163" cy="2922397"/>
          </a:xfrm>
          <a:prstGeom prst="rect">
            <a:avLst/>
          </a:prstGeom>
        </p:spPr>
        <p:txBody>
          <a:bodyPr lIns="0" tIns="0" rIns="0" bIns="0" rtlCol="0" anchor="t">
            <a:spAutoFit/>
          </a:bodyPr>
          <a:lstStyle/>
          <a:p>
            <a:pPr algn="r">
              <a:lnSpc>
                <a:spcPts val="25820"/>
              </a:lnSpc>
            </a:pPr>
            <a:r>
              <a:rPr lang="en-US" sz="12719" spc="1093">
                <a:solidFill>
                  <a:srgbClr val="183263"/>
                </a:solidFill>
                <a:latin typeface="Montserrat"/>
                <a:ea typeface="Montserrat"/>
                <a:cs typeface="Montserrat"/>
                <a:sym typeface="Montserrat"/>
              </a:rPr>
              <a:t>2</a:t>
            </a:r>
          </a:p>
        </p:txBody>
      </p:sp>
      <p:sp>
        <p:nvSpPr>
          <p:cNvPr id="17" name="TextBox 17"/>
          <p:cNvSpPr txBox="1"/>
          <p:nvPr/>
        </p:nvSpPr>
        <p:spPr>
          <a:xfrm>
            <a:off x="696151" y="4610849"/>
            <a:ext cx="1677163" cy="2922397"/>
          </a:xfrm>
          <a:prstGeom prst="rect">
            <a:avLst/>
          </a:prstGeom>
        </p:spPr>
        <p:txBody>
          <a:bodyPr lIns="0" tIns="0" rIns="0" bIns="0" rtlCol="0" anchor="t">
            <a:spAutoFit/>
          </a:bodyPr>
          <a:lstStyle/>
          <a:p>
            <a:pPr algn="r">
              <a:lnSpc>
                <a:spcPts val="25820"/>
              </a:lnSpc>
            </a:pPr>
            <a:r>
              <a:rPr lang="en-US" sz="12719" spc="1093">
                <a:solidFill>
                  <a:srgbClr val="183263"/>
                </a:solidFill>
                <a:latin typeface="Montserrat"/>
                <a:ea typeface="Montserrat"/>
                <a:cs typeface="Montserrat"/>
                <a:sym typeface="Montserrat"/>
              </a:rPr>
              <a:t>3</a:t>
            </a:r>
          </a:p>
        </p:txBody>
      </p:sp>
      <p:sp>
        <p:nvSpPr>
          <p:cNvPr id="18" name="TextBox 18"/>
          <p:cNvSpPr txBox="1"/>
          <p:nvPr/>
        </p:nvSpPr>
        <p:spPr>
          <a:xfrm>
            <a:off x="860726" y="6628370"/>
            <a:ext cx="1512588" cy="2629930"/>
          </a:xfrm>
          <a:prstGeom prst="rect">
            <a:avLst/>
          </a:prstGeom>
        </p:spPr>
        <p:txBody>
          <a:bodyPr lIns="0" tIns="0" rIns="0" bIns="0" rtlCol="0" anchor="t">
            <a:spAutoFit/>
          </a:bodyPr>
          <a:lstStyle/>
          <a:p>
            <a:pPr algn="r">
              <a:lnSpc>
                <a:spcPts val="23286"/>
              </a:lnSpc>
            </a:pPr>
            <a:r>
              <a:rPr lang="en-US" sz="11471" spc="986">
                <a:solidFill>
                  <a:srgbClr val="183263"/>
                </a:solidFill>
                <a:latin typeface="Montserrat"/>
                <a:ea typeface="Montserrat"/>
                <a:cs typeface="Montserrat"/>
                <a:sym typeface="Montserrat"/>
              </a:rPr>
              <a:t>4</a:t>
            </a:r>
          </a:p>
        </p:txBody>
      </p:sp>
      <p:sp>
        <p:nvSpPr>
          <p:cNvPr id="19" name="TextBox 19"/>
          <p:cNvSpPr txBox="1"/>
          <p:nvPr/>
        </p:nvSpPr>
        <p:spPr>
          <a:xfrm>
            <a:off x="2677754" y="2173862"/>
            <a:ext cx="4282855" cy="410337"/>
          </a:xfrm>
          <a:prstGeom prst="rect">
            <a:avLst/>
          </a:prstGeom>
        </p:spPr>
        <p:txBody>
          <a:bodyPr lIns="0" tIns="0" rIns="0" bIns="0" rtlCol="0" anchor="t">
            <a:spAutoFit/>
          </a:bodyPr>
          <a:lstStyle/>
          <a:p>
            <a:pPr algn="l">
              <a:lnSpc>
                <a:spcPts val="3654"/>
              </a:lnSpc>
            </a:pPr>
            <a:r>
              <a:rPr lang="en-US" sz="1800" b="1" spc="154">
                <a:solidFill>
                  <a:srgbClr val="000000"/>
                </a:solidFill>
                <a:latin typeface="Montserrat Ultra-Bold"/>
                <a:ea typeface="Montserrat Ultra-Bold"/>
                <a:cs typeface="Montserrat Ultra-Bold"/>
                <a:sym typeface="Montserrat Ultra-Bold"/>
              </a:rPr>
              <a:t>Web responsive</a:t>
            </a:r>
          </a:p>
        </p:txBody>
      </p:sp>
      <p:sp>
        <p:nvSpPr>
          <p:cNvPr id="20" name="TextBox 20"/>
          <p:cNvSpPr txBox="1"/>
          <p:nvPr/>
        </p:nvSpPr>
        <p:spPr>
          <a:xfrm>
            <a:off x="2677754" y="2664717"/>
            <a:ext cx="4714980" cy="688848"/>
          </a:xfrm>
          <a:prstGeom prst="rect">
            <a:avLst/>
          </a:prstGeom>
        </p:spPr>
        <p:txBody>
          <a:bodyPr lIns="0" tIns="0" rIns="0" bIns="0" rtlCol="0" anchor="t">
            <a:spAutoFit/>
          </a:bodyPr>
          <a:lstStyle/>
          <a:p>
            <a:pPr algn="l">
              <a:lnSpc>
                <a:spcPts val="1806"/>
              </a:lnSpc>
            </a:pPr>
            <a:r>
              <a:rPr lang="en-US" sz="1400" b="1" spc="120">
                <a:solidFill>
                  <a:srgbClr val="000000"/>
                </a:solidFill>
                <a:latin typeface="Montserrat Medium"/>
                <a:ea typeface="Montserrat Medium"/>
                <a:cs typeface="Montserrat Medium"/>
                <a:sym typeface="Montserrat Medium"/>
              </a:rPr>
              <a:t>La aplicación se adapta automáticamente a móvil, tablet y ordenador, permitiendo reservar desde cualquier dispositivo.</a:t>
            </a:r>
          </a:p>
        </p:txBody>
      </p:sp>
      <p:sp>
        <p:nvSpPr>
          <p:cNvPr id="21" name="TextBox 21"/>
          <p:cNvSpPr txBox="1"/>
          <p:nvPr/>
        </p:nvSpPr>
        <p:spPr>
          <a:xfrm>
            <a:off x="2677754" y="3990811"/>
            <a:ext cx="4282855" cy="410337"/>
          </a:xfrm>
          <a:prstGeom prst="rect">
            <a:avLst/>
          </a:prstGeom>
        </p:spPr>
        <p:txBody>
          <a:bodyPr lIns="0" tIns="0" rIns="0" bIns="0" rtlCol="0" anchor="t">
            <a:spAutoFit/>
          </a:bodyPr>
          <a:lstStyle/>
          <a:p>
            <a:pPr marL="0" lvl="0" indent="0" algn="l">
              <a:lnSpc>
                <a:spcPts val="3654"/>
              </a:lnSpc>
              <a:spcBef>
                <a:spcPct val="0"/>
              </a:spcBef>
            </a:pPr>
            <a:r>
              <a:rPr lang="en-US" sz="1800" b="1" u="none" strike="noStrike" spc="154">
                <a:solidFill>
                  <a:srgbClr val="000000"/>
                </a:solidFill>
                <a:latin typeface="Montserrat Ultra-Bold"/>
                <a:ea typeface="Montserrat Ultra-Bold"/>
                <a:cs typeface="Montserrat Ultra-Bold"/>
                <a:sym typeface="Montserrat Ultra-Bold"/>
              </a:rPr>
              <a:t>Moderna y accesible</a:t>
            </a:r>
          </a:p>
        </p:txBody>
      </p:sp>
      <p:sp>
        <p:nvSpPr>
          <p:cNvPr id="22" name="TextBox 22"/>
          <p:cNvSpPr txBox="1"/>
          <p:nvPr/>
        </p:nvSpPr>
        <p:spPr>
          <a:xfrm>
            <a:off x="2677754" y="4477348"/>
            <a:ext cx="4714980" cy="688848"/>
          </a:xfrm>
          <a:prstGeom prst="rect">
            <a:avLst/>
          </a:prstGeom>
        </p:spPr>
        <p:txBody>
          <a:bodyPr lIns="0" tIns="0" rIns="0" bIns="0" rtlCol="0" anchor="t">
            <a:spAutoFit/>
          </a:bodyPr>
          <a:lstStyle/>
          <a:p>
            <a:pPr algn="l">
              <a:lnSpc>
                <a:spcPts val="1806"/>
              </a:lnSpc>
            </a:pPr>
            <a:r>
              <a:rPr lang="en-US" sz="1400" spc="120">
                <a:solidFill>
                  <a:srgbClr val="000000"/>
                </a:solidFill>
                <a:latin typeface="Montserrat"/>
                <a:ea typeface="Montserrat"/>
                <a:cs typeface="Montserrat"/>
                <a:sym typeface="Montserrat"/>
              </a:rPr>
              <a:t>Interfaz sencilla, clara y pensada para todo tipo de usuarios, incluso con pocos conocimientos digitales.</a:t>
            </a:r>
          </a:p>
        </p:txBody>
      </p:sp>
      <p:sp>
        <p:nvSpPr>
          <p:cNvPr id="23" name="TextBox 23"/>
          <p:cNvSpPr txBox="1"/>
          <p:nvPr/>
        </p:nvSpPr>
        <p:spPr>
          <a:xfrm>
            <a:off x="2677754" y="5803442"/>
            <a:ext cx="4282855" cy="410337"/>
          </a:xfrm>
          <a:prstGeom prst="rect">
            <a:avLst/>
          </a:prstGeom>
        </p:spPr>
        <p:txBody>
          <a:bodyPr lIns="0" tIns="0" rIns="0" bIns="0" rtlCol="0" anchor="t">
            <a:spAutoFit/>
          </a:bodyPr>
          <a:lstStyle/>
          <a:p>
            <a:pPr marL="0" lvl="0" indent="0" algn="l">
              <a:lnSpc>
                <a:spcPts val="3654"/>
              </a:lnSpc>
              <a:spcBef>
                <a:spcPct val="0"/>
              </a:spcBef>
            </a:pPr>
            <a:r>
              <a:rPr lang="en-US" sz="1800" b="1" u="none" strike="noStrike" spc="154">
                <a:solidFill>
                  <a:srgbClr val="000000"/>
                </a:solidFill>
                <a:latin typeface="Montserrat Ultra-Bold"/>
                <a:ea typeface="Montserrat Ultra-Bold"/>
                <a:cs typeface="Montserrat Ultra-Bold"/>
                <a:sym typeface="Montserrat Ultra-Bold"/>
              </a:rPr>
              <a:t>Elegante y visual</a:t>
            </a:r>
          </a:p>
        </p:txBody>
      </p:sp>
      <p:sp>
        <p:nvSpPr>
          <p:cNvPr id="24" name="TextBox 24"/>
          <p:cNvSpPr txBox="1"/>
          <p:nvPr/>
        </p:nvSpPr>
        <p:spPr>
          <a:xfrm>
            <a:off x="2677754" y="6289979"/>
            <a:ext cx="4714980" cy="688848"/>
          </a:xfrm>
          <a:prstGeom prst="rect">
            <a:avLst/>
          </a:prstGeom>
        </p:spPr>
        <p:txBody>
          <a:bodyPr lIns="0" tIns="0" rIns="0" bIns="0" rtlCol="0" anchor="t">
            <a:spAutoFit/>
          </a:bodyPr>
          <a:lstStyle/>
          <a:p>
            <a:pPr algn="l">
              <a:lnSpc>
                <a:spcPts val="1806"/>
              </a:lnSpc>
            </a:pPr>
            <a:r>
              <a:rPr lang="en-US" sz="1400" spc="120">
                <a:solidFill>
                  <a:srgbClr val="000000"/>
                </a:solidFill>
                <a:latin typeface="Montserrat"/>
                <a:ea typeface="Montserrat"/>
                <a:cs typeface="Montserrat"/>
                <a:sym typeface="Montserrat"/>
              </a:rPr>
              <a:t>Diseño limpio, profesional, con inspiraciones en iOS y orientado a facilitar la experiencia del usuario en cada paso de la reserva.</a:t>
            </a:r>
          </a:p>
        </p:txBody>
      </p:sp>
      <p:sp>
        <p:nvSpPr>
          <p:cNvPr id="25" name="TextBox 25"/>
          <p:cNvSpPr txBox="1"/>
          <p:nvPr/>
        </p:nvSpPr>
        <p:spPr>
          <a:xfrm>
            <a:off x="2677754" y="7616073"/>
            <a:ext cx="4282855" cy="410337"/>
          </a:xfrm>
          <a:prstGeom prst="rect">
            <a:avLst/>
          </a:prstGeom>
        </p:spPr>
        <p:txBody>
          <a:bodyPr lIns="0" tIns="0" rIns="0" bIns="0" rtlCol="0" anchor="t">
            <a:spAutoFit/>
          </a:bodyPr>
          <a:lstStyle/>
          <a:p>
            <a:pPr marL="0" lvl="0" indent="0" algn="l">
              <a:lnSpc>
                <a:spcPts val="3654"/>
              </a:lnSpc>
              <a:spcBef>
                <a:spcPct val="0"/>
              </a:spcBef>
            </a:pPr>
            <a:r>
              <a:rPr lang="en-US" sz="1800" b="1" u="none" strike="noStrike" spc="154">
                <a:solidFill>
                  <a:srgbClr val="000000"/>
                </a:solidFill>
                <a:latin typeface="Montserrat Ultra-Bold"/>
                <a:ea typeface="Montserrat Ultra-Bold"/>
                <a:cs typeface="Montserrat Ultra-Bold"/>
                <a:sym typeface="Montserrat Ultra-Bold"/>
              </a:rPr>
              <a:t>Actualizable</a:t>
            </a:r>
          </a:p>
        </p:txBody>
      </p:sp>
      <p:sp>
        <p:nvSpPr>
          <p:cNvPr id="26" name="TextBox 26"/>
          <p:cNvSpPr txBox="1"/>
          <p:nvPr/>
        </p:nvSpPr>
        <p:spPr>
          <a:xfrm>
            <a:off x="2677754" y="8102610"/>
            <a:ext cx="4714980" cy="917448"/>
          </a:xfrm>
          <a:prstGeom prst="rect">
            <a:avLst/>
          </a:prstGeom>
        </p:spPr>
        <p:txBody>
          <a:bodyPr lIns="0" tIns="0" rIns="0" bIns="0" rtlCol="0" anchor="t">
            <a:spAutoFit/>
          </a:bodyPr>
          <a:lstStyle/>
          <a:p>
            <a:pPr algn="l">
              <a:lnSpc>
                <a:spcPts val="1806"/>
              </a:lnSpc>
            </a:pPr>
            <a:r>
              <a:rPr lang="en-US" sz="1400" spc="120">
                <a:solidFill>
                  <a:srgbClr val="000000"/>
                </a:solidFill>
                <a:latin typeface="Montserrat"/>
                <a:ea typeface="Montserrat"/>
                <a:cs typeface="Montserrat"/>
                <a:sym typeface="Montserrat"/>
              </a:rPr>
              <a:t>La aplicación está preparada para evolucionar, añadir nuevas funciones y adaptarse a las necesidades futuras del ayuntamiento.</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8816" r="-8816"/>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1012571"/>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Instalaciones</a:t>
            </a:r>
          </a:p>
        </p:txBody>
      </p:sp>
      <p:sp>
        <p:nvSpPr>
          <p:cNvPr id="11" name="TextBox 11"/>
          <p:cNvSpPr txBox="1"/>
          <p:nvPr/>
        </p:nvSpPr>
        <p:spPr>
          <a:xfrm>
            <a:off x="1275535" y="3239700"/>
            <a:ext cx="6544472" cy="40987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La aplicación muestra todas las instalaciones deportivas disponibles del polideportivo municipal, como pistas de pádel, tenis, fútbol u otras zonas deportivas. Cada instalación cuenta con un botón para ver su disponibilidad horaria y poder reservar.</a:t>
            </a:r>
          </a:p>
          <a:p>
            <a:pPr algn="l">
              <a:lnSpc>
                <a:spcPts val="2736"/>
              </a:lnSpc>
            </a:pPr>
            <a:r>
              <a:rPr lang="en-US" sz="1800" spc="117">
                <a:solidFill>
                  <a:srgbClr val="000000"/>
                </a:solidFill>
                <a:latin typeface="Montserrat"/>
                <a:ea typeface="Montserrat"/>
                <a:cs typeface="Montserrat"/>
                <a:sym typeface="Montserrat"/>
              </a:rPr>
              <a:t>Además, desde el panel de administración se pueden crear nuevas instalaciones, modificar las existentes o desactivarlas si es necesario, lo que permite al ayuntamiento tener un control total sobre los espacios deportivos.</a:t>
            </a: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8925" r="-8925"/>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1012571"/>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Reservar</a:t>
            </a:r>
          </a:p>
        </p:txBody>
      </p:sp>
      <p:sp>
        <p:nvSpPr>
          <p:cNvPr id="11" name="TextBox 11"/>
          <p:cNvSpPr txBox="1"/>
          <p:nvPr/>
        </p:nvSpPr>
        <p:spPr>
          <a:xfrm>
            <a:off x="1275535" y="3239700"/>
            <a:ext cx="6544472" cy="40987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El proceso de reserva está diseñado para que sea rápido y sencillo: el usuario selecciona la instalación, elige el día, escoge la hora disponible y confirma la reserva en pocos segundos. Todo el proceso se realiza de forma totalmente online.</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r>
              <a:rPr lang="en-US" sz="1800" spc="117">
                <a:solidFill>
                  <a:srgbClr val="000000"/>
                </a:solidFill>
                <a:latin typeface="Montserrat"/>
                <a:ea typeface="Montserrat"/>
                <a:cs typeface="Montserrat"/>
                <a:sym typeface="Montserrat"/>
              </a:rPr>
              <a:t>El sistema comprueba automáticamente que no exista ningún conflicto, evitando solapamientos o reservas en horarios bloqueados. Una vez confirmada, la reserva queda registrada y visible en el perfil del usuario.</a:t>
            </a: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9178" r="-9178"/>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1012571"/>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Panel de control</a:t>
            </a:r>
          </a:p>
        </p:txBody>
      </p:sp>
      <p:sp>
        <p:nvSpPr>
          <p:cNvPr id="11" name="TextBox 11"/>
          <p:cNvSpPr txBox="1"/>
          <p:nvPr/>
        </p:nvSpPr>
        <p:spPr>
          <a:xfrm>
            <a:off x="1275535" y="3239700"/>
            <a:ext cx="6544472" cy="44416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El panel de control está pensado para el personal del ayuntamiento y permite gestionar toda la aplicación desde un único lugar. Desde aquí se pueden administrar los usuarios, las instalaciones, las reservas y los bloqueos.</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r>
              <a:rPr lang="en-US" sz="1800" spc="117">
                <a:solidFill>
                  <a:srgbClr val="000000"/>
                </a:solidFill>
                <a:latin typeface="Montserrat"/>
                <a:ea typeface="Montserrat"/>
                <a:cs typeface="Montserrat"/>
                <a:sym typeface="Montserrat"/>
              </a:rPr>
              <a:t>También permite bloquear horarios por mantenimiento, torneos o días festivos, evitando problemas en la gestión diaria y asegurando que los ciudadanos solo puedan reservar en horarios válidos.</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8850" r="-8850"/>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1012571"/>
          </a:xfrm>
          <a:prstGeom prst="rect">
            <a:avLst/>
          </a:prstGeom>
        </p:spPr>
        <p:txBody>
          <a:bodyPr lIns="0" tIns="0" rIns="0" bIns="0" rtlCol="0" anchor="t">
            <a:spAutoFit/>
          </a:bodyPr>
          <a:lstStyle/>
          <a:p>
            <a:pPr algn="l">
              <a:lnSpc>
                <a:spcPts val="8932"/>
              </a:lnSpc>
            </a:pPr>
            <a:r>
              <a:rPr lang="en-US" sz="4400" spc="378" dirty="0" err="1">
                <a:solidFill>
                  <a:srgbClr val="000000"/>
                </a:solidFill>
                <a:latin typeface="TAN Headline"/>
                <a:ea typeface="TAN Headline"/>
                <a:cs typeface="TAN Headline"/>
                <a:sym typeface="TAN Headline"/>
              </a:rPr>
              <a:t>Sobre</a:t>
            </a:r>
            <a:r>
              <a:rPr lang="en-US" sz="4400" spc="378" dirty="0">
                <a:solidFill>
                  <a:srgbClr val="000000"/>
                </a:solidFill>
                <a:latin typeface="TAN Headline"/>
                <a:ea typeface="TAN Headline"/>
                <a:cs typeface="TAN Headline"/>
                <a:sym typeface="TAN Headline"/>
              </a:rPr>
              <a:t> </a:t>
            </a:r>
            <a:r>
              <a:rPr lang="en-US" sz="4400" spc="378">
                <a:solidFill>
                  <a:srgbClr val="000000"/>
                </a:solidFill>
                <a:latin typeface="TAN Headline"/>
                <a:ea typeface="TAN Headline"/>
                <a:cs typeface="TAN Headline"/>
                <a:sym typeface="TAN Headline"/>
              </a:rPr>
              <a:t>mí</a:t>
            </a:r>
            <a:endParaRPr lang="en-US" sz="4400" spc="378" dirty="0">
              <a:solidFill>
                <a:srgbClr val="000000"/>
              </a:solidFill>
              <a:latin typeface="TAN Headline"/>
              <a:ea typeface="TAN Headline"/>
              <a:cs typeface="TAN Headline"/>
              <a:sym typeface="TAN Headline"/>
            </a:endParaRPr>
          </a:p>
        </p:txBody>
      </p:sp>
      <p:sp>
        <p:nvSpPr>
          <p:cNvPr id="11" name="TextBox 11"/>
          <p:cNvSpPr txBox="1"/>
          <p:nvPr/>
        </p:nvSpPr>
        <p:spPr>
          <a:xfrm>
            <a:off x="1275535" y="3239700"/>
            <a:ext cx="6544472" cy="37558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Este proyecto ha sido desarrollado como Trabajo de Fin de Ciclo del ciclo formativo de Desarrollo de Aplicaciones Web. En él he aplicado conocimientos de programación, bases de datos, diseño web, seguridad y arquitectura de software.</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r>
              <a:rPr lang="en-US" sz="1800" spc="117">
                <a:solidFill>
                  <a:srgbClr val="000000"/>
                </a:solidFill>
                <a:latin typeface="Montserrat"/>
                <a:ea typeface="Montserrat"/>
                <a:cs typeface="Montserrat"/>
                <a:sym typeface="Montserrat"/>
              </a:rPr>
              <a:t>AytoDeporte no es solo un proyecto académico, sino una solución real a un problema real de mi pueblo, lo que le da un valor añadido tanto a nivel personal como profesional.</a:t>
            </a: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8757" r="-8757"/>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1012571"/>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Mi perfil</a:t>
            </a:r>
          </a:p>
        </p:txBody>
      </p:sp>
      <p:sp>
        <p:nvSpPr>
          <p:cNvPr id="11" name="TextBox 11"/>
          <p:cNvSpPr txBox="1"/>
          <p:nvPr/>
        </p:nvSpPr>
        <p:spPr>
          <a:xfrm>
            <a:off x="1275535" y="3239700"/>
            <a:ext cx="6544472" cy="37558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En la sección Mi Perfil, cada usuario puede ver su información personal una vez ha iniciado sesión, como su nombre y su correo electrónico. Esta zona permite que cada persona tenga un espacio propio dentro de la aplicación.</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r>
              <a:rPr lang="en-US" sz="1800" spc="117">
                <a:solidFill>
                  <a:srgbClr val="000000"/>
                </a:solidFill>
                <a:latin typeface="Montserrat"/>
                <a:ea typeface="Montserrat"/>
                <a:cs typeface="Montserrat"/>
                <a:sym typeface="Montserrat"/>
              </a:rPr>
              <a:t>Además, desde aquí el usuario puede consultar todas sus reservas activas y su historial, ver qué instalaciones tiene reservadas, en qué fecha y a qué hora.</a:t>
            </a: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9400" r="-9400"/>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2146046"/>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Autenticación de usuarios</a:t>
            </a:r>
          </a:p>
        </p:txBody>
      </p:sp>
      <p:sp>
        <p:nvSpPr>
          <p:cNvPr id="11" name="TextBox 11"/>
          <p:cNvSpPr txBox="1"/>
          <p:nvPr/>
        </p:nvSpPr>
        <p:spPr>
          <a:xfrm>
            <a:off x="1275535" y="4202609"/>
            <a:ext cx="6544472" cy="47845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a:t>
            </a:r>
            <a:r>
              <a:rPr lang="en-US" sz="1800" b="1" spc="117">
                <a:solidFill>
                  <a:srgbClr val="000000"/>
                </a:solidFill>
                <a:latin typeface="Montserrat Bold"/>
                <a:ea typeface="Montserrat Bold"/>
                <a:cs typeface="Montserrat Bold"/>
                <a:sym typeface="Montserrat Bold"/>
              </a:rPr>
              <a:t>Registro</a:t>
            </a:r>
          </a:p>
          <a:p>
            <a:pPr algn="l">
              <a:lnSpc>
                <a:spcPts val="2736"/>
              </a:lnSpc>
            </a:pPr>
            <a:r>
              <a:rPr lang="en-US" sz="1800" spc="117">
                <a:solidFill>
                  <a:srgbClr val="000000"/>
                </a:solidFill>
                <a:latin typeface="Montserrat"/>
                <a:ea typeface="Montserrat"/>
                <a:cs typeface="Montserrat"/>
                <a:sym typeface="Montserrat"/>
              </a:rPr>
              <a:t>La aplicación permite a cualquier ciudadano registrarse de forma sencilla introduciendo sus datos básicos, como nombre, apellido, correo electrónico y contraseña. De esta manera, cada usuario dispone de una cuenta personal con la que podrá acceder al sistema.</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r>
              <a:rPr lang="en-US" sz="1800" spc="117">
                <a:solidFill>
                  <a:srgbClr val="000000"/>
                </a:solidFill>
                <a:latin typeface="Montserrat"/>
                <a:ea typeface="Montserrat"/>
                <a:cs typeface="Montserrat"/>
                <a:sym typeface="Montserrat"/>
              </a:rPr>
              <a:t>Este registro permite identificar a cada persona dentro de la plataforma, asociar sus reservas a su perfil y garantizar que cada usuario solo pueda gestionar su propia información, manteniendo la seguridad y la privacidad de los datos.</a:t>
            </a: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8758836" y="1344552"/>
            <a:ext cx="9085872" cy="7294966"/>
            <a:chOff x="0" y="0"/>
            <a:chExt cx="7467600" cy="5995670"/>
          </a:xfrm>
        </p:grpSpPr>
        <p:sp>
          <p:nvSpPr>
            <p:cNvPr id="3" name="Freeform 3"/>
            <p:cNvSpPr/>
            <p:nvPr/>
          </p:nvSpPr>
          <p:spPr>
            <a:xfrm>
              <a:off x="0" y="0"/>
              <a:ext cx="7467600" cy="4513580"/>
            </a:xfrm>
            <a:custGeom>
              <a:avLst/>
              <a:gdLst/>
              <a:ahLst/>
              <a:cxnLst/>
              <a:rect l="l" t="t" r="r" b="b"/>
              <a:pathLst>
                <a:path w="7467600" h="451358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id="4" name="Freeform 4"/>
            <p:cNvSpPr/>
            <p:nvPr/>
          </p:nvSpPr>
          <p:spPr>
            <a:xfrm>
              <a:off x="0" y="4514850"/>
              <a:ext cx="7467600" cy="695960"/>
            </a:xfrm>
            <a:custGeom>
              <a:avLst/>
              <a:gdLst/>
              <a:ahLst/>
              <a:cxnLst/>
              <a:rect l="l" t="t" r="r" b="b"/>
              <a:pathLst>
                <a:path w="7467600" h="69596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id="5" name="Freeform 5"/>
            <p:cNvSpPr/>
            <p:nvPr/>
          </p:nvSpPr>
          <p:spPr>
            <a:xfrm>
              <a:off x="2434265" y="5210810"/>
              <a:ext cx="2596530" cy="786130"/>
            </a:xfrm>
            <a:custGeom>
              <a:avLst/>
              <a:gdLst/>
              <a:ahLst/>
              <a:cxnLst/>
              <a:rect l="l" t="t" r="r" b="b"/>
              <a:pathLst>
                <a:path w="2596530" h="786130">
                  <a:moveTo>
                    <a:pt x="1253815" y="0"/>
                  </a:moveTo>
                  <a:lnTo>
                    <a:pt x="448635" y="0"/>
                  </a:lnTo>
                  <a:cubicBezTo>
                    <a:pt x="448635" y="0"/>
                    <a:pt x="424505" y="370840"/>
                    <a:pt x="399105" y="525780"/>
                  </a:cubicBezTo>
                  <a:cubicBezTo>
                    <a:pt x="354655" y="791210"/>
                    <a:pt x="82875" y="706120"/>
                    <a:pt x="5405" y="762000"/>
                  </a:cubicBezTo>
                  <a:cubicBezTo>
                    <a:pt x="-4755" y="769620"/>
                    <a:pt x="325" y="786130"/>
                    <a:pt x="13025" y="786130"/>
                  </a:cubicBezTo>
                  <a:lnTo>
                    <a:pt x="2583505" y="786130"/>
                  </a:lnTo>
                  <a:cubicBezTo>
                    <a:pt x="2596205" y="786130"/>
                    <a:pt x="2601285" y="769620"/>
                    <a:pt x="2591125" y="762000"/>
                  </a:cubicBezTo>
                  <a:cubicBezTo>
                    <a:pt x="2513655" y="706120"/>
                    <a:pt x="2241875" y="791210"/>
                    <a:pt x="2197425" y="525780"/>
                  </a:cubicBezTo>
                  <a:cubicBezTo>
                    <a:pt x="2172025" y="370840"/>
                    <a:pt x="2147895" y="0"/>
                    <a:pt x="2147895" y="0"/>
                  </a:cubicBezTo>
                  <a:lnTo>
                    <a:pt x="1253815" y="0"/>
                  </a:lnTo>
                  <a:close/>
                </a:path>
              </a:pathLst>
            </a:custGeom>
            <a:solidFill>
              <a:srgbClr val="BBBBBB"/>
            </a:solidFill>
          </p:spPr>
        </p:sp>
        <p:sp>
          <p:nvSpPr>
            <p:cNvPr id="6" name="Freeform 6"/>
            <p:cNvSpPr/>
            <p:nvPr/>
          </p:nvSpPr>
          <p:spPr>
            <a:xfrm>
              <a:off x="314960" y="353060"/>
              <a:ext cx="6827520" cy="3835400"/>
            </a:xfrm>
            <a:custGeom>
              <a:avLst/>
              <a:gdLst/>
              <a:ahLst/>
              <a:cxnLst/>
              <a:rect l="l" t="t" r="r" b="b"/>
              <a:pathLst>
                <a:path w="6827520" h="3835400">
                  <a:moveTo>
                    <a:pt x="0" y="0"/>
                  </a:moveTo>
                  <a:lnTo>
                    <a:pt x="6827520" y="0"/>
                  </a:lnTo>
                  <a:lnTo>
                    <a:pt x="6827520" y="3835400"/>
                  </a:lnTo>
                  <a:lnTo>
                    <a:pt x="0" y="3835400"/>
                  </a:lnTo>
                  <a:close/>
                </a:path>
              </a:pathLst>
            </a:custGeom>
            <a:blipFill>
              <a:blip r:embed="rId2"/>
              <a:stretch>
                <a:fillRect l="-8962" r="-8962"/>
              </a:stretch>
            </a:blipFill>
          </p:spPr>
        </p:sp>
      </p:grpSp>
      <p:grpSp>
        <p:nvGrpSpPr>
          <p:cNvPr id="7" name="Group 7"/>
          <p:cNvGrpSpPr/>
          <p:nvPr/>
        </p:nvGrpSpPr>
        <p:grpSpPr>
          <a:xfrm>
            <a:off x="9679165" y="8378998"/>
            <a:ext cx="11933240" cy="521040"/>
            <a:chOff x="0" y="0"/>
            <a:chExt cx="3572814" cy="155999"/>
          </a:xfrm>
        </p:grpSpPr>
        <p:sp>
          <p:nvSpPr>
            <p:cNvPr id="8" name="Freeform 8"/>
            <p:cNvSpPr/>
            <p:nvPr/>
          </p:nvSpPr>
          <p:spPr>
            <a:xfrm>
              <a:off x="0" y="0"/>
              <a:ext cx="3572814" cy="155999"/>
            </a:xfrm>
            <a:custGeom>
              <a:avLst/>
              <a:gdLst/>
              <a:ahLst/>
              <a:cxnLst/>
              <a:rect l="l" t="t" r="r" b="b"/>
              <a:pathLst>
                <a:path w="3572814" h="155999">
                  <a:moveTo>
                    <a:pt x="1786407" y="0"/>
                  </a:moveTo>
                  <a:cubicBezTo>
                    <a:pt x="799802" y="0"/>
                    <a:pt x="0" y="34922"/>
                    <a:pt x="0" y="78000"/>
                  </a:cubicBezTo>
                  <a:cubicBezTo>
                    <a:pt x="0" y="121078"/>
                    <a:pt x="799802" y="155999"/>
                    <a:pt x="1786407" y="155999"/>
                  </a:cubicBezTo>
                  <a:cubicBezTo>
                    <a:pt x="2773013" y="155999"/>
                    <a:pt x="3572814" y="121078"/>
                    <a:pt x="3572814" y="78000"/>
                  </a:cubicBezTo>
                  <a:cubicBezTo>
                    <a:pt x="3572814" y="34922"/>
                    <a:pt x="2773013" y="0"/>
                    <a:pt x="1786407" y="0"/>
                  </a:cubicBezTo>
                  <a:close/>
                </a:path>
              </a:pathLst>
            </a:custGeom>
            <a:solidFill>
              <a:srgbClr val="183263">
                <a:alpha val="9804"/>
              </a:srgbClr>
            </a:solidFill>
          </p:spPr>
        </p:sp>
        <p:sp>
          <p:nvSpPr>
            <p:cNvPr id="9" name="TextBox 9"/>
            <p:cNvSpPr txBox="1"/>
            <p:nvPr/>
          </p:nvSpPr>
          <p:spPr>
            <a:xfrm>
              <a:off x="334951" y="-23475"/>
              <a:ext cx="2902912" cy="1648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275535" y="1919802"/>
            <a:ext cx="6544472" cy="2146046"/>
          </a:xfrm>
          <a:prstGeom prst="rect">
            <a:avLst/>
          </a:prstGeom>
        </p:spPr>
        <p:txBody>
          <a:bodyPr lIns="0" tIns="0" rIns="0" bIns="0" rtlCol="0" anchor="t">
            <a:spAutoFit/>
          </a:bodyPr>
          <a:lstStyle/>
          <a:p>
            <a:pPr algn="l">
              <a:lnSpc>
                <a:spcPts val="8932"/>
              </a:lnSpc>
            </a:pPr>
            <a:r>
              <a:rPr lang="en-US" sz="4400" spc="378">
                <a:solidFill>
                  <a:srgbClr val="000000"/>
                </a:solidFill>
                <a:latin typeface="TAN Headline"/>
                <a:ea typeface="TAN Headline"/>
                <a:cs typeface="TAN Headline"/>
                <a:sym typeface="TAN Headline"/>
              </a:rPr>
              <a:t>Autenticación de usuarios</a:t>
            </a:r>
          </a:p>
        </p:txBody>
      </p:sp>
      <p:sp>
        <p:nvSpPr>
          <p:cNvPr id="11" name="TextBox 11"/>
          <p:cNvSpPr txBox="1"/>
          <p:nvPr/>
        </p:nvSpPr>
        <p:spPr>
          <a:xfrm>
            <a:off x="1275535" y="4202609"/>
            <a:ext cx="6544472" cy="4784598"/>
          </a:xfrm>
          <a:prstGeom prst="rect">
            <a:avLst/>
          </a:prstGeom>
        </p:spPr>
        <p:txBody>
          <a:bodyPr lIns="0" tIns="0" rIns="0" bIns="0" rtlCol="0" anchor="t">
            <a:spAutoFit/>
          </a:bodyPr>
          <a:lstStyle/>
          <a:p>
            <a:pPr algn="l">
              <a:lnSpc>
                <a:spcPts val="2736"/>
              </a:lnSpc>
            </a:pPr>
            <a:r>
              <a:rPr lang="en-US" sz="1800" spc="117">
                <a:solidFill>
                  <a:srgbClr val="000000"/>
                </a:solidFill>
                <a:latin typeface="Montserrat"/>
                <a:ea typeface="Montserrat"/>
                <a:cs typeface="Montserrat"/>
                <a:sym typeface="Montserrat"/>
              </a:rPr>
              <a:t>-</a:t>
            </a:r>
            <a:r>
              <a:rPr lang="en-US" sz="1800" b="1" spc="117">
                <a:solidFill>
                  <a:srgbClr val="000000"/>
                </a:solidFill>
                <a:latin typeface="Montserrat Bold"/>
                <a:ea typeface="Montserrat Bold"/>
                <a:cs typeface="Montserrat Bold"/>
                <a:sym typeface="Montserrat Bold"/>
              </a:rPr>
              <a:t>Inicio de sesión</a:t>
            </a:r>
          </a:p>
          <a:p>
            <a:pPr algn="l">
              <a:lnSpc>
                <a:spcPts val="2736"/>
              </a:lnSpc>
            </a:pPr>
            <a:r>
              <a:rPr lang="en-US" sz="1800" spc="117">
                <a:solidFill>
                  <a:srgbClr val="000000"/>
                </a:solidFill>
                <a:latin typeface="Montserrat"/>
                <a:ea typeface="Montserrat"/>
                <a:cs typeface="Montserrat"/>
                <a:sym typeface="Montserrat"/>
              </a:rPr>
              <a:t>Una vez registrado, el usuario puede iniciar sesión con su correo y contraseña desde cualquier dispositivo. Al acceder, el sistema verifica sus datos de forma segura antes de permitirle utilizar la aplicación.</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r>
              <a:rPr lang="en-US" sz="1800" spc="117">
                <a:solidFill>
                  <a:srgbClr val="000000"/>
                </a:solidFill>
                <a:latin typeface="Montserrat"/>
                <a:ea typeface="Montserrat"/>
                <a:cs typeface="Montserrat"/>
                <a:sym typeface="Montserrat"/>
              </a:rPr>
              <a:t>Según el tipo de usuario, el sistema muestra distintas opciones: los ciudadanos acceden a las funciones de reserva y perfil, mientras que los administradores pueden entrar en el panel de control para gestionar todo el sistema.</a:t>
            </a:r>
          </a:p>
          <a:p>
            <a:pPr algn="l">
              <a:lnSpc>
                <a:spcPts val="2736"/>
              </a:lnSpc>
            </a:pPr>
            <a:endParaRPr lang="en-US" sz="1800" spc="117">
              <a:solidFill>
                <a:srgbClr val="000000"/>
              </a:solidFill>
              <a:latin typeface="Montserrat"/>
              <a:ea typeface="Montserrat"/>
              <a:cs typeface="Montserrat"/>
              <a:sym typeface="Montserrat"/>
            </a:endParaRPr>
          </a:p>
          <a:p>
            <a:pPr algn="l">
              <a:lnSpc>
                <a:spcPts val="2736"/>
              </a:lnSpc>
            </a:pPr>
            <a:endParaRPr lang="en-US" sz="1800" spc="117">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sp>
        <p:nvSpPr>
          <p:cNvPr id="2" name="TextBox 2"/>
          <p:cNvSpPr txBox="1"/>
          <p:nvPr/>
        </p:nvSpPr>
        <p:spPr>
          <a:xfrm>
            <a:off x="900312" y="3770079"/>
            <a:ext cx="8559119" cy="1655665"/>
          </a:xfrm>
          <a:prstGeom prst="rect">
            <a:avLst/>
          </a:prstGeom>
        </p:spPr>
        <p:txBody>
          <a:bodyPr lIns="0" tIns="0" rIns="0" bIns="0" rtlCol="0" anchor="t">
            <a:spAutoFit/>
          </a:bodyPr>
          <a:lstStyle/>
          <a:p>
            <a:pPr algn="l">
              <a:lnSpc>
                <a:spcPts val="6641"/>
              </a:lnSpc>
            </a:pPr>
            <a:r>
              <a:rPr lang="en-US" sz="4919" spc="-29">
                <a:solidFill>
                  <a:srgbClr val="000000"/>
                </a:solidFill>
                <a:latin typeface="TAN Headline"/>
                <a:ea typeface="TAN Headline"/>
                <a:cs typeface="TAN Headline"/>
                <a:sym typeface="TAN Headline"/>
              </a:rPr>
              <a:t>Conclusión y valor del proyecto</a:t>
            </a:r>
          </a:p>
        </p:txBody>
      </p:sp>
      <p:sp>
        <p:nvSpPr>
          <p:cNvPr id="3" name="TextBox 3"/>
          <p:cNvSpPr txBox="1"/>
          <p:nvPr/>
        </p:nvSpPr>
        <p:spPr>
          <a:xfrm>
            <a:off x="9891560" y="1333500"/>
            <a:ext cx="7062819" cy="7620000"/>
          </a:xfrm>
          <a:prstGeom prst="rect">
            <a:avLst/>
          </a:prstGeom>
        </p:spPr>
        <p:txBody>
          <a:bodyPr lIns="0" tIns="0" rIns="0" bIns="0" rtlCol="0" anchor="t">
            <a:spAutoFit/>
          </a:bodyPr>
          <a:lstStyle/>
          <a:p>
            <a:pPr algn="l">
              <a:lnSpc>
                <a:spcPts val="2400"/>
              </a:lnSpc>
            </a:pPr>
            <a:r>
              <a:rPr lang="en-US" sz="2000">
                <a:solidFill>
                  <a:srgbClr val="000000"/>
                </a:solidFill>
                <a:latin typeface="Montserrat"/>
                <a:ea typeface="Montserrat"/>
                <a:cs typeface="Montserrat"/>
                <a:sym typeface="Montserrat"/>
              </a:rPr>
              <a:t>Con este proyecto se pretende transformar un proceso lento, manual y poco eficiente en un sistema digital rápido, accesible y centralizado, mejorando de forma directa la experiencia de los ciudadanos y la organización interna del ayuntamiento.</a:t>
            </a:r>
          </a:p>
          <a:p>
            <a:pPr algn="l">
              <a:lnSpc>
                <a:spcPts val="2400"/>
              </a:lnSpc>
            </a:pPr>
            <a:r>
              <a:rPr lang="en-US" sz="2000">
                <a:solidFill>
                  <a:srgbClr val="000000"/>
                </a:solidFill>
                <a:latin typeface="Montserrat"/>
                <a:ea typeface="Montserrat"/>
                <a:cs typeface="Montserrat"/>
                <a:sym typeface="Montserrat"/>
              </a:rPr>
              <a:t> La aplicación permite reservar instalaciones deportivas de forma sencilla, segura y sin desplazamientos, resolviendo un problema real que existe actualmente en mi municipio.</a:t>
            </a:r>
          </a:p>
          <a:p>
            <a:pPr algn="l">
              <a:lnSpc>
                <a:spcPts val="2400"/>
              </a:lnSpc>
            </a:pPr>
            <a:r>
              <a:rPr lang="en-US" sz="2000">
                <a:solidFill>
                  <a:srgbClr val="000000"/>
                </a:solidFill>
                <a:latin typeface="Montserrat"/>
                <a:ea typeface="Montserrat"/>
                <a:cs typeface="Montserrat"/>
                <a:sym typeface="Montserrat"/>
              </a:rPr>
              <a:t>Desde el punto de vista técnico, el proyecto demuestra la capacidad de desarrollar una aplicación completa de principio a fin, integrando frontend, backend, base de datos y seguridad con autenticación JWT. Además, se ha diseñado un sistema escalable, preparado para crecer con nuevas funcionalidades como pagos online, estadísticas o aplicación móvil.</a:t>
            </a:r>
          </a:p>
          <a:p>
            <a:pPr algn="l">
              <a:lnSpc>
                <a:spcPts val="2400"/>
              </a:lnSpc>
            </a:pPr>
            <a:r>
              <a:rPr lang="en-US" sz="2000">
                <a:solidFill>
                  <a:srgbClr val="000000"/>
                </a:solidFill>
                <a:latin typeface="Montserrat"/>
                <a:ea typeface="Montserrat"/>
                <a:cs typeface="Montserrat"/>
                <a:sym typeface="Montserrat"/>
              </a:rPr>
              <a:t>Como valor añadido, AytoDeporte no es solo un trabajo académico, sino una solución real, aplicable a otros municipios con mínimas adaptaciones. Este proyecto refleja no solo los conocimientos técnicos adquiridos durante el ciclo de Desarrollo de Aplicaciones Web, sino también la capacidad de analizar un problema real, diseñar una solución completa y llevarla a la práctica con un enfoque profesional.</a:t>
            </a:r>
          </a:p>
          <a:p>
            <a:pPr algn="l">
              <a:lnSpc>
                <a:spcPts val="2400"/>
              </a:lnSpc>
            </a:pPr>
            <a:endParaRPr lang="en-US" sz="2000">
              <a:solidFill>
                <a:srgbClr val="000000"/>
              </a:solidFill>
              <a:latin typeface="Montserrat"/>
              <a:ea typeface="Montserrat"/>
              <a:cs typeface="Montserrat"/>
              <a:sym typeface="Montserrat"/>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AE70E">
                <a:alpha val="100000"/>
              </a:srgbClr>
            </a:gs>
            <a:gs pos="50000">
              <a:srgbClr val="08FDED">
                <a:alpha val="100000"/>
              </a:srgbClr>
            </a:gs>
            <a:gs pos="100000">
              <a:srgbClr val="0072ED">
                <a:alpha val="100000"/>
              </a:srgbClr>
            </a:gs>
          </a:gsLst>
          <a:lin ang="18900000"/>
        </a:gradFill>
        <a:effectLst/>
      </p:bgPr>
    </p:bg>
    <p:spTree>
      <p:nvGrpSpPr>
        <p:cNvPr id="1" name=""/>
        <p:cNvGrpSpPr/>
        <p:nvPr/>
      </p:nvGrpSpPr>
      <p:grpSpPr>
        <a:xfrm>
          <a:off x="0" y="0"/>
          <a:ext cx="0" cy="0"/>
          <a:chOff x="0" y="0"/>
          <a:chExt cx="0" cy="0"/>
        </a:xfrm>
      </p:grpSpPr>
      <p:sp>
        <p:nvSpPr>
          <p:cNvPr id="2" name="TextBox 2"/>
          <p:cNvSpPr txBox="1"/>
          <p:nvPr/>
        </p:nvSpPr>
        <p:spPr>
          <a:xfrm>
            <a:off x="1151546" y="4358448"/>
            <a:ext cx="15984908" cy="1836805"/>
          </a:xfrm>
          <a:prstGeom prst="rect">
            <a:avLst/>
          </a:prstGeom>
        </p:spPr>
        <p:txBody>
          <a:bodyPr lIns="0" tIns="0" rIns="0" bIns="0" rtlCol="0" anchor="t">
            <a:spAutoFit/>
          </a:bodyPr>
          <a:lstStyle/>
          <a:p>
            <a:pPr algn="ctr">
              <a:lnSpc>
                <a:spcPts val="13815"/>
              </a:lnSpc>
            </a:pPr>
            <a:r>
              <a:rPr lang="en-US" sz="13815" spc="1105">
                <a:solidFill>
                  <a:srgbClr val="000000"/>
                </a:solidFill>
                <a:latin typeface="TAN Headline"/>
                <a:ea typeface="TAN Headline"/>
                <a:cs typeface="TAN Headline"/>
                <a:sym typeface="TAN Headline"/>
              </a:rPr>
              <a:t>Gracias</a:t>
            </a:r>
          </a:p>
        </p:txBody>
      </p:sp>
      <p:sp>
        <p:nvSpPr>
          <p:cNvPr id="3" name="TextBox 3"/>
          <p:cNvSpPr txBox="1"/>
          <p:nvPr/>
        </p:nvSpPr>
        <p:spPr>
          <a:xfrm>
            <a:off x="4604611" y="6280977"/>
            <a:ext cx="9078779" cy="367665"/>
          </a:xfrm>
          <a:prstGeom prst="rect">
            <a:avLst/>
          </a:prstGeom>
        </p:spPr>
        <p:txBody>
          <a:bodyPr lIns="0" tIns="0" rIns="0" bIns="0" rtlCol="0" anchor="t">
            <a:spAutoFit/>
          </a:bodyPr>
          <a:lstStyle/>
          <a:p>
            <a:pPr algn="ctr">
              <a:lnSpc>
                <a:spcPts val="2730"/>
              </a:lnSpc>
            </a:pPr>
            <a:r>
              <a:rPr lang="en-US" sz="3000" spc="606">
                <a:solidFill>
                  <a:srgbClr val="000000"/>
                </a:solidFill>
                <a:latin typeface="Montserrat"/>
                <a:ea typeface="Montserrat"/>
                <a:cs typeface="Montserrat"/>
                <a:sym typeface="Montserrat"/>
              </a:rPr>
              <a:t>DIEGO SAELICES</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872</Words>
  <Application>Microsoft Office PowerPoint</Application>
  <PresentationFormat>Personalizado</PresentationFormat>
  <Paragraphs>67</Paragraphs>
  <Slides>12</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12</vt:i4>
      </vt:variant>
    </vt:vector>
  </HeadingPairs>
  <TitlesOfParts>
    <vt:vector size="21" baseType="lpstr">
      <vt:lpstr>Montserrat</vt:lpstr>
      <vt:lpstr>TAN Headline</vt:lpstr>
      <vt:lpstr>Montserrat Medium</vt:lpstr>
      <vt:lpstr>Calibri</vt:lpstr>
      <vt:lpstr>Montserrat Bold</vt:lpstr>
      <vt:lpstr>Arial</vt:lpstr>
      <vt:lpstr>Montserrat Ultra-Bold</vt:lpstr>
      <vt:lpstr>Montserrat Extra-Light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propuesta</dc:title>
  <cp:lastModifiedBy>Diego Saelices</cp:lastModifiedBy>
  <cp:revision>2</cp:revision>
  <dcterms:created xsi:type="dcterms:W3CDTF">2006-08-16T00:00:00Z</dcterms:created>
  <dcterms:modified xsi:type="dcterms:W3CDTF">2025-12-07T12:21:43Z</dcterms:modified>
  <dc:identifier>DAG60gqYmVQ</dc:identifier>
</cp:coreProperties>
</file>